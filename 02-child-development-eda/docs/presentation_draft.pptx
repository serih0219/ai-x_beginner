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27"/>
    <p:restoredTop sz="94640"/>
  </p:normalViewPr>
  <p:slideViewPr>
    <p:cSldViewPr snapToGrid="0">
      <p:cViewPr varScale="1">
        <p:scale>
          <a:sx n="76" d="100"/>
          <a:sy n="76" d="100"/>
        </p:scale>
        <p:origin x="232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746ADA-C84E-D627-DC5D-F99CF471E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8A7D9C-20AB-FD79-6C85-23CAFA056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B16868-0B64-11EE-4734-671759FDB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3903-B380-D349-AEDA-7CE8AFFF93B3}" type="datetimeFigureOut">
              <a:rPr kumimoji="1" lang="ko-KR" altLang="en-US" smtClean="0"/>
              <a:t>2024. 11. 28.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9F6E12-78F3-DF8F-6104-14326C621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2FDCC9-1028-C623-DA0E-2638751C1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A88D9-738B-C144-A58A-51AC2373C1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84544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3E2616-218E-D4CE-28BC-FA2FFB9D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96E652-0218-BEFF-68F5-4D7009E14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A201E4-5A7C-98FB-D431-E349FE757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3903-B380-D349-AEDA-7CE8AFFF93B3}" type="datetimeFigureOut">
              <a:rPr kumimoji="1" lang="ko-KR" altLang="en-US" smtClean="0"/>
              <a:t>2024. 11. 28.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ED14A6-6835-1C87-FD7F-E889DEDB5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40DBBA-08BC-21CA-5956-A1A43E6F3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A88D9-738B-C144-A58A-51AC2373C1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9890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258C25-811B-73B5-B9A2-8A2F93B8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B5C2F2-9FB4-3300-D2BC-03050A92B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787D23-4A29-AA5C-934C-53872B1D9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3903-B380-D349-AEDA-7CE8AFFF93B3}" type="datetimeFigureOut">
              <a:rPr kumimoji="1" lang="ko-KR" altLang="en-US" smtClean="0"/>
              <a:t>2024. 11. 28.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148D7B-A86B-48BD-AC3E-07CE82FDC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647AFE-9E3E-C9D8-A923-1A1527D9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A88D9-738B-C144-A58A-51AC2373C1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4061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162B22-53EE-BBBC-9D89-FBECF0F3E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B1DA72-ACE0-3FF0-1759-2C753D12C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44F43D-B0CB-47DA-3C3B-1B3EA6DB66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D0725E-E9DF-C05F-ACB3-8E057A0DA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3903-B380-D349-AEDA-7CE8AFFF93B3}" type="datetimeFigureOut">
              <a:rPr kumimoji="1" lang="ko-KR" altLang="en-US" smtClean="0"/>
              <a:t>2024. 11. 28.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B53865-AEA1-2DF2-549F-89F78E20D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C5C8E2-CE84-BC6E-D9CA-762B2BC60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A88D9-738B-C144-A58A-51AC2373C1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5199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C96CB5-6338-3808-D27F-2D885D1D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6E6C2-33E6-79B5-0BA4-5C2492906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8016F-72E7-6985-639E-605EE39B2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370981-0135-A6C0-E0A5-9B9C1D2466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945BE02-DEE6-3C5F-FC9F-8281AFA68E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9065F3-EA7A-F2EC-4904-058259213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3903-B380-D349-AEDA-7CE8AFFF93B3}" type="datetimeFigureOut">
              <a:rPr kumimoji="1" lang="ko-KR" altLang="en-US" smtClean="0"/>
              <a:t>2024. 11. 28.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6EAD9BC-0016-8024-8593-29AF09D6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F2101D3-6DD3-A8EA-FF28-AFF6E2E7F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A88D9-738B-C144-A58A-51AC2373C1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1971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881B73-03EE-3218-A058-06DF3B08B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8A4CED-3769-1458-C763-E12B01AEB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3903-B380-D349-AEDA-7CE8AFFF93B3}" type="datetimeFigureOut">
              <a:rPr kumimoji="1" lang="ko-KR" altLang="en-US" smtClean="0"/>
              <a:t>2024. 11. 28.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AE3846E-7D73-A520-3F2C-CDD6F2802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0A15AA-9EBA-2513-3BD3-AE9C19788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A88D9-738B-C144-A58A-51AC2373C1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45250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B4C280A-338A-3853-D6FB-B150D8C6C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3903-B380-D349-AEDA-7CE8AFFF93B3}" type="datetimeFigureOut">
              <a:rPr kumimoji="1" lang="ko-KR" altLang="en-US" smtClean="0"/>
              <a:t>2024. 11. 28.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48D039-6A24-F246-C239-5000C9C89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7388B8-06EA-0F13-29F0-363A4C91C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A88D9-738B-C144-A58A-51AC2373C1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08722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44C24-2966-73D7-A652-21795B42E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80AF71-EE70-E4A0-84E4-F152B108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DCB43A-7F3C-A786-0D7F-8CE4AF8B7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687578-8DA1-C433-E626-BFC252EB7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3903-B380-D349-AEDA-7CE8AFFF93B3}" type="datetimeFigureOut">
              <a:rPr kumimoji="1" lang="ko-KR" altLang="en-US" smtClean="0"/>
              <a:t>2024. 11. 28.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AA7641D-8D80-922D-0E9E-5FB57CACF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A2064F-83E6-D48A-AF1C-136512AFD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A88D9-738B-C144-A58A-51AC2373C1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0664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3437A8-0C62-B92A-3534-4ABA8F494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01C5A4D-39FA-0A70-CEC5-A8DD7FD156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14528A-9DF2-ABCA-EA8C-D1D812632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104F6-C363-5152-99DE-7A85DE1C3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3903-B380-D349-AEDA-7CE8AFFF93B3}" type="datetimeFigureOut">
              <a:rPr kumimoji="1" lang="ko-KR" altLang="en-US" smtClean="0"/>
              <a:t>2024. 11. 28.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F36780-5288-B7CE-EBAC-DC3843DF2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BB0603-0AFF-B145-22AA-4F796CADC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A88D9-738B-C144-A58A-51AC2373C1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82088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B745A-DB10-5235-6777-25F8C3CF8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670C2A-7D73-3C73-9F15-C98E1E724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DEF145-B4BD-0455-E5B4-6CCD71C63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3903-B380-D349-AEDA-7CE8AFFF93B3}" type="datetimeFigureOut">
              <a:rPr kumimoji="1" lang="ko-KR" altLang="en-US" smtClean="0"/>
              <a:t>2024. 11. 28.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F3D707-ED97-79AA-2423-6CFAC67CB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7D896A-E7A8-6FAF-3E0D-C3DBF99A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A88D9-738B-C144-A58A-51AC2373C1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6320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FD078BE-8A1F-7FD7-E4F0-D12E4CC2F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0652AB-BFB1-AAFE-A2FD-3CE622998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2AB804-FFE3-A53C-4FE5-5A5A3DE9B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C3903-B380-D349-AEDA-7CE8AFFF93B3}" type="datetimeFigureOut">
              <a:rPr kumimoji="1" lang="ko-KR" altLang="en-US" smtClean="0"/>
              <a:t>2024. 11. 28.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A37A2F-D5F1-C6B9-436D-7093BEDA1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3B6102-4BD1-6D4C-58ED-65CB8C35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A88D9-738B-C144-A58A-51AC2373C1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452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1AEB31E-4A52-F482-04F9-F49810657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D3B454-93BB-CA75-47B0-FCA6F55F5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C1525F-6EA9-4BBD-C32D-9F261E265A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C3903-B380-D349-AEDA-7CE8AFFF93B3}" type="datetimeFigureOut">
              <a:rPr kumimoji="1" lang="ko-KR" altLang="en-US" smtClean="0"/>
              <a:t>2024. 11. 28.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4B0293-C243-9C22-D283-219CD90B7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610811-B717-26C9-2FDB-FEC230912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0A88D9-738B-C144-A58A-51AC2373C12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93126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7D89BA-1B72-3EF1-388D-2E24C77E10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 err="1"/>
              <a:t>SmartGrowth</a:t>
            </a:r>
            <a:endParaRPr kumimoji="1"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BD075D-9485-A9AF-D6DF-2AB76D1D1C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 dirty="0"/>
              <a:t>: 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아동 발달을 모니터링하고 장애를 예방하는 서비스 </a:t>
            </a:r>
            <a:endParaRPr lang="ko-KR" altLang="en-US" dirty="0">
              <a:solidFill>
                <a:srgbClr val="0E0E0E"/>
              </a:solidFill>
              <a:effectLst/>
              <a:latin typeface=".AppleSystemUIFont"/>
            </a:endParaRP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8698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07E9BA-E366-0749-5CFB-4C102376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9AAF2B-A778-06F0-E725-EA7850036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/>
              <a:t>목차 그냥 넣으면 됨 </a:t>
            </a:r>
          </a:p>
        </p:txBody>
      </p:sp>
    </p:spTree>
    <p:extLst>
      <p:ext uri="{BB962C8B-B14F-4D97-AF65-F5344CB8AC3E}">
        <p14:creationId xmlns:p14="http://schemas.microsoft.com/office/powerpoint/2010/main" val="1384762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41A17-72E2-DDDF-5F3B-8D4479EE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F5F45-193D-0BD7-37A7-13A1E54BE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서비스 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C1F2D6-AFEF-8BBB-4C63-2E9233FE5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“(</a:t>
            </a:r>
            <a:r>
              <a:rPr kumimoji="1" lang="ko-KR" altLang="en-US" dirty="0"/>
              <a:t>부모와 함께</a:t>
            </a:r>
            <a:r>
              <a:rPr kumimoji="1" lang="en-US" altLang="ko-KR" dirty="0"/>
              <a:t>)</a:t>
            </a:r>
            <a:r>
              <a:rPr kumimoji="1" lang="ko-KR" altLang="en-US" dirty="0"/>
              <a:t> 아동의 발달 상태를 전문적으로 파악 발달 장애를 예방하고 건강한 성장을 돕는 서비스</a:t>
            </a:r>
            <a:r>
              <a:rPr kumimoji="1" lang="en-US" altLang="ko-KR" dirty="0"/>
              <a:t>”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dirty="0"/>
              <a:t>핵심 기능 넣기 </a:t>
            </a:r>
            <a:r>
              <a:rPr kumimoji="1" lang="en-US" altLang="ko-KR" dirty="0"/>
              <a:t>: </a:t>
            </a:r>
            <a:r>
              <a:rPr kumimoji="1" lang="ko-KR" altLang="en-US" dirty="0"/>
              <a:t>실시간 모니터링 </a:t>
            </a:r>
            <a:r>
              <a:rPr kumimoji="1" lang="en-US" altLang="ko-KR" dirty="0"/>
              <a:t>-&gt; </a:t>
            </a:r>
            <a:r>
              <a:rPr kumimoji="1" lang="ko-KR" altLang="en-US" dirty="0"/>
              <a:t>통계 및 이상행동 감지 시 알림 발송 </a:t>
            </a:r>
            <a:endParaRPr kumimoji="1" lang="en-US" altLang="ko-KR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5758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771AB-D05A-E6CF-A110-3EEF8727B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7ECB25-92F0-65D9-1435-C47BF6700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서비스 기획배경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05027E-33A7-21E3-BA4C-A114274A6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kumimoji="1" lang="ko-KR" altLang="en-US" dirty="0"/>
              <a:t>발달 장애와 조기 진단의 중요성 </a:t>
            </a:r>
            <a:r>
              <a:rPr kumimoji="1" lang="en-US" altLang="ko-KR" dirty="0"/>
              <a:t>: </a:t>
            </a:r>
            <a:r>
              <a:rPr kumimoji="1" lang="ko-KR" altLang="en-US" dirty="0"/>
              <a:t>발달장애 증가율</a:t>
            </a:r>
            <a:r>
              <a:rPr kumimoji="1" lang="en-US" altLang="ko-KR" dirty="0"/>
              <a:t>(0~9</a:t>
            </a:r>
            <a:r>
              <a:rPr kumimoji="1" lang="ko-KR" altLang="en-US" dirty="0"/>
              <a:t>세 사이</a:t>
            </a:r>
            <a:r>
              <a:rPr kumimoji="1" lang="en-US" altLang="ko-KR" dirty="0"/>
              <a:t>), </a:t>
            </a:r>
            <a:r>
              <a:rPr kumimoji="1" lang="ko-KR" altLang="en-US" dirty="0"/>
              <a:t>심각성</a:t>
            </a:r>
            <a:r>
              <a:rPr kumimoji="1" lang="en-US" altLang="ko-KR" dirty="0"/>
              <a:t>(</a:t>
            </a:r>
            <a:r>
              <a:rPr kumimoji="1" lang="ko-KR" altLang="en-US" dirty="0"/>
              <a:t>발달장애 발현 시기 놓치면 위험</a:t>
            </a:r>
            <a:r>
              <a:rPr kumimoji="1" lang="en-US" altLang="ko-KR" dirty="0"/>
              <a:t>)</a:t>
            </a:r>
          </a:p>
          <a:p>
            <a:pPr marL="514350" indent="-514350">
              <a:buAutoNum type="arabicPeriod"/>
            </a:pPr>
            <a:r>
              <a:rPr kumimoji="1" lang="ko-KR" altLang="en-US" dirty="0"/>
              <a:t>현행 육아의 한계</a:t>
            </a:r>
            <a:r>
              <a:rPr kumimoji="1" lang="en-US" altLang="ko-KR" dirty="0"/>
              <a:t> </a:t>
            </a:r>
            <a:r>
              <a:rPr kumimoji="1" lang="ko-KR" altLang="en-US" dirty="0"/>
              <a:t>및 가정 구조 변화</a:t>
            </a:r>
            <a:r>
              <a:rPr kumimoji="1" lang="en-US" altLang="ko-KR" dirty="0"/>
              <a:t>: </a:t>
            </a:r>
            <a:r>
              <a:rPr kumimoji="1" lang="ko-KR" altLang="en-US" dirty="0"/>
              <a:t>핵가족화와 맞벌이 가정의 증가로 부모와 아이 보내는 시간 줄어들어 발달 지표를 지속적으로 관찰하는 데 한계 생김 </a:t>
            </a:r>
            <a:endParaRPr kumimoji="1" lang="en-US" altLang="ko-KR" dirty="0"/>
          </a:p>
          <a:p>
            <a:pPr marL="514350" indent="-514350">
              <a:buAutoNum type="arabicPeriod"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dirty="0"/>
              <a:t>*뒷받침 자료들 넣기*</a:t>
            </a: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B6F04914-7F90-1181-2C9E-7FB75BE75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467" y="4424900"/>
            <a:ext cx="2566420" cy="243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077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ECED3-7847-BFE0-3623-1DE11AF04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E275D-6045-5A28-1C1A-82D75BE5C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Desk research – </a:t>
            </a:r>
            <a:r>
              <a:rPr kumimoji="1" lang="ko-KR" altLang="en-US" dirty="0" err="1"/>
              <a:t>영유아건강검진의</a:t>
            </a:r>
            <a:r>
              <a:rPr kumimoji="1" lang="ko-KR" altLang="en-US" dirty="0"/>
              <a:t> 한계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FC9B6D-6280-66C8-4459-82DCF7550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kumimoji="1" lang="ko-KR" altLang="en-US" dirty="0"/>
              <a:t>보건복지부에서 실행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r>
              <a:rPr kumimoji="1" lang="ko-KR" altLang="en-US" dirty="0"/>
              <a:t>한계 및 개선사항</a:t>
            </a:r>
            <a:r>
              <a:rPr kumimoji="1" lang="en-US" altLang="ko-KR" dirty="0"/>
              <a:t>: 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1.</a:t>
            </a:r>
            <a:r>
              <a:rPr kumimoji="1" lang="ko-KR" altLang="en-US" dirty="0"/>
              <a:t> 부모의 관찰 내용을 기반으로 함</a:t>
            </a:r>
            <a:r>
              <a:rPr kumimoji="1" lang="en-US" altLang="ko-KR" dirty="0"/>
              <a:t> -&gt; </a:t>
            </a:r>
            <a:r>
              <a:rPr kumimoji="1" lang="ko-KR" altLang="en-US" dirty="0"/>
              <a:t>부모의 주관적인 관찰에 크게 의존하므로</a:t>
            </a:r>
            <a:r>
              <a:rPr kumimoji="1" lang="en-US" altLang="ko-KR" dirty="0"/>
              <a:t>, </a:t>
            </a:r>
            <a:r>
              <a:rPr kumimoji="1" lang="ko-KR" altLang="en-US" dirty="0"/>
              <a:t>세세한 발달 변화를 놓칠 가능성 높음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2. </a:t>
            </a:r>
            <a:r>
              <a:rPr kumimoji="1" lang="ko-KR" altLang="en-US" dirty="0"/>
              <a:t>진단 목적 아님</a:t>
            </a:r>
            <a:r>
              <a:rPr kumimoji="1" lang="en-US" altLang="ko-KR" dirty="0"/>
              <a:t> -&gt; </a:t>
            </a:r>
            <a:r>
              <a:rPr kumimoji="1" lang="ko-KR" altLang="en-US" dirty="0"/>
              <a:t>선별검사는 이상 여부를 가늠하는 데 중점을 두며</a:t>
            </a:r>
            <a:r>
              <a:rPr kumimoji="1" lang="en-US" altLang="ko-KR" dirty="0"/>
              <a:t>, </a:t>
            </a:r>
            <a:r>
              <a:rPr kumimoji="1" lang="ko-KR" altLang="en-US" dirty="0"/>
              <a:t>발달 장애의 조기 진단이나 구체적 원인 파악에는 한계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3.</a:t>
            </a:r>
            <a:r>
              <a:rPr kumimoji="1" lang="ko-KR" altLang="en-US" dirty="0"/>
              <a:t> 간헐적 평가 </a:t>
            </a:r>
            <a:r>
              <a:rPr kumimoji="1" lang="en-US" altLang="ko-KR" dirty="0"/>
              <a:t>-&gt; </a:t>
            </a:r>
            <a:r>
              <a:rPr kumimoji="1" lang="ko-KR" altLang="en-US" dirty="0"/>
              <a:t>정기 검진 시점</a:t>
            </a:r>
            <a:r>
              <a:rPr kumimoji="1" lang="en-US" altLang="ko-KR" dirty="0"/>
              <a:t>(4</a:t>
            </a:r>
            <a:r>
              <a:rPr kumimoji="1" lang="ko-KR" altLang="en-US" dirty="0"/>
              <a:t>개월</a:t>
            </a:r>
            <a:r>
              <a:rPr kumimoji="1" lang="en-US" altLang="ko-KR" dirty="0"/>
              <a:t>, 9</a:t>
            </a:r>
            <a:r>
              <a:rPr kumimoji="1" lang="ko-KR" altLang="en-US" dirty="0"/>
              <a:t>개월 등</a:t>
            </a:r>
            <a:r>
              <a:rPr kumimoji="1" lang="en-US" altLang="ko-KR" dirty="0"/>
              <a:t>) </a:t>
            </a:r>
            <a:r>
              <a:rPr kumimoji="1" lang="ko-KR" altLang="en-US" dirty="0"/>
              <a:t>사이의 발달 상태 변화는 확인하기 어려워 조기 발견 기회가 제한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4.</a:t>
            </a:r>
            <a:r>
              <a:rPr kumimoji="1" lang="ko-KR" altLang="en-US" dirty="0"/>
              <a:t> 정량적 데이터 부족 </a:t>
            </a:r>
            <a:r>
              <a:rPr kumimoji="1" lang="en-US" altLang="ko-KR" dirty="0"/>
              <a:t>-&gt; </a:t>
            </a:r>
            <a:r>
              <a:rPr kumimoji="1" lang="ko-KR" altLang="en-US" dirty="0"/>
              <a:t>발달 상태를 </a:t>
            </a:r>
            <a:r>
              <a:rPr kumimoji="1" lang="ko-KR" altLang="en-US" dirty="0" err="1"/>
              <a:t>수치화하거나</a:t>
            </a:r>
            <a:r>
              <a:rPr kumimoji="1" lang="ko-KR" altLang="en-US" dirty="0"/>
              <a:t> 지속적으로 모니터링할 수 있는 체계가 부족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6958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D585E-59CD-EA35-7AF7-858691868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4F2D4-15AE-420D-68E8-EAC840C59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Desk research – </a:t>
            </a:r>
            <a:r>
              <a:rPr kumimoji="1" lang="ko-KR" altLang="en-US" dirty="0"/>
              <a:t>경쟁 서비스 분석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FD2571-1E22-05BE-3CDD-FFCF8519F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kumimoji="1" lang="ko-KR" altLang="en-US" dirty="0" err="1"/>
              <a:t>키우미</a:t>
            </a:r>
            <a:r>
              <a:rPr kumimoji="1" lang="ko-KR" altLang="en-US" dirty="0"/>
              <a:t> </a:t>
            </a:r>
            <a:r>
              <a:rPr kumimoji="1" lang="en-US" altLang="ko-KR" dirty="0"/>
              <a:t>: </a:t>
            </a:r>
          </a:p>
          <a:p>
            <a:pPr>
              <a:buFontTx/>
              <a:buChar char="-"/>
            </a:pPr>
            <a:r>
              <a:rPr kumimoji="1" lang="ko-KR" altLang="en-US" dirty="0"/>
              <a:t>뇌발달의 </a:t>
            </a:r>
            <a:r>
              <a:rPr kumimoji="1" lang="ko-KR" altLang="en-US" dirty="0" err="1"/>
              <a:t>골든타임에</a:t>
            </a:r>
            <a:r>
              <a:rPr kumimoji="1" lang="ko-KR" altLang="en-US" dirty="0"/>
              <a:t> 맞춘 놀이와 활동을 제안하며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신체인지</a:t>
            </a:r>
            <a:r>
              <a:rPr kumimoji="1" lang="en-US" altLang="ko-KR" dirty="0"/>
              <a:t>, </a:t>
            </a:r>
            <a:r>
              <a:rPr kumimoji="1" lang="ko-KR" altLang="en-US" dirty="0"/>
              <a:t>사회성 등 발달 영역별 맞춤형 정보를 제공 </a:t>
            </a:r>
            <a:endParaRPr kumimoji="1" lang="en-US" altLang="ko-KR" dirty="0"/>
          </a:p>
          <a:p>
            <a:pPr>
              <a:buFontTx/>
              <a:buChar char="-"/>
            </a:pPr>
            <a:r>
              <a:rPr kumimoji="1" lang="ko-KR" altLang="en-US" dirty="0"/>
              <a:t>발달검사 기능을 통해 부모가 질문에 답을 해 활동을 수행함으로써 발달 점수와 성장 곡선 확인 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2.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사이이음</a:t>
            </a:r>
            <a:r>
              <a:rPr kumimoji="1" lang="en-US" altLang="ko-KR" dirty="0"/>
              <a:t>: </a:t>
            </a:r>
          </a:p>
          <a:p>
            <a:pPr>
              <a:buFontTx/>
              <a:buChar char="-"/>
            </a:pPr>
            <a:r>
              <a:rPr kumimoji="1" lang="ko-KR" altLang="en-US" dirty="0"/>
              <a:t>발달이 느린 </a:t>
            </a:r>
            <a:r>
              <a:rPr kumimoji="1" lang="en-US" altLang="ko-KR" dirty="0"/>
              <a:t>(</a:t>
            </a:r>
            <a:r>
              <a:rPr kumimoji="1" lang="ko-KR" altLang="en-US" dirty="0"/>
              <a:t>혹은 발달장애가 있는</a:t>
            </a:r>
            <a:r>
              <a:rPr kumimoji="1" lang="en-US" altLang="ko-KR" dirty="0"/>
              <a:t>) </a:t>
            </a:r>
            <a:r>
              <a:rPr kumimoji="1" lang="ko-KR" altLang="en-US" dirty="0"/>
              <a:t>아동을 위한 맞춤형 지원 서비스 제공 </a:t>
            </a:r>
            <a:endParaRPr kumimoji="1" lang="en-US" altLang="ko-KR" dirty="0"/>
          </a:p>
          <a:p>
            <a:pPr>
              <a:buFontTx/>
              <a:buChar char="-"/>
            </a:pPr>
            <a:r>
              <a:rPr kumimoji="1" lang="ko-KR" altLang="en-US" dirty="0"/>
              <a:t>발달 치료 솔루션 제고 및 근처 발달 센터 정보 제공 </a:t>
            </a:r>
          </a:p>
        </p:txBody>
      </p:sp>
    </p:spTree>
    <p:extLst>
      <p:ext uri="{BB962C8B-B14F-4D97-AF65-F5344CB8AC3E}">
        <p14:creationId xmlns:p14="http://schemas.microsoft.com/office/powerpoint/2010/main" val="3047658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6A470-8A2C-5436-E315-FF4F67D12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574271-4F87-F755-10C3-C21582C2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Desk research – </a:t>
            </a:r>
            <a:r>
              <a:rPr kumimoji="1" lang="ko-KR" altLang="en-US" dirty="0"/>
              <a:t>경쟁 서비스 분석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9F3133-B12D-F809-DD8C-F1356E0C9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ko-KR" altLang="en-US" dirty="0"/>
              <a:t>두 서비스의 공통적인 문제점</a:t>
            </a:r>
            <a:r>
              <a:rPr kumimoji="1" lang="en-US" altLang="ko-KR" dirty="0"/>
              <a:t>: </a:t>
            </a:r>
          </a:p>
          <a:p>
            <a:pPr marL="514350" indent="-514350">
              <a:buAutoNum type="arabicPeriod"/>
            </a:pPr>
            <a:r>
              <a:rPr kumimoji="1" lang="ko-KR" altLang="en-US" dirty="0"/>
              <a:t>객관적 판단이 아닌 부모의 주관적 판단을 기준으로 함 </a:t>
            </a:r>
            <a:endParaRPr kumimoji="1" lang="en-US" altLang="ko-KR" dirty="0"/>
          </a:p>
          <a:p>
            <a:pPr marL="514350" indent="-514350">
              <a:buAutoNum type="arabicPeriod"/>
            </a:pPr>
            <a:r>
              <a:rPr kumimoji="1" lang="ko-KR" altLang="en-US" dirty="0"/>
              <a:t>실시간 모니터링 기능의 부재 </a:t>
            </a:r>
          </a:p>
        </p:txBody>
      </p:sp>
    </p:spTree>
    <p:extLst>
      <p:ext uri="{BB962C8B-B14F-4D97-AF65-F5344CB8AC3E}">
        <p14:creationId xmlns:p14="http://schemas.microsoft.com/office/powerpoint/2010/main" val="838789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1983E-DF5D-79BC-44DB-013A41601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C2456-E1A6-F227-6E50-B286F8437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Desk research – </a:t>
            </a:r>
            <a:r>
              <a:rPr kumimoji="1" lang="ko-KR" altLang="en-US" dirty="0"/>
              <a:t>요약 및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9747C8-1CC1-B0B6-0B31-C47F1185B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1. </a:t>
            </a:r>
            <a:r>
              <a:rPr lang="ko-KR" altLang="en-US" b="1" dirty="0" err="1">
                <a:solidFill>
                  <a:srgbClr val="0E0E0E"/>
                </a:solidFill>
                <a:effectLst/>
                <a:latin typeface=".AppleSystemUIFont"/>
              </a:rPr>
              <a:t>영유아건강검진의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 한계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: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부모의 주관적 관찰에 의존하여 세세한 발달 변화를 놓칠 수 있고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간헐적인 평가로 조기 발견 기회가 제한됨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2. 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정량적 데이터 부족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: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발달 상태를 </a:t>
            </a:r>
            <a:r>
              <a:rPr lang="ko-KR" altLang="en-US" dirty="0" err="1">
                <a:solidFill>
                  <a:srgbClr val="0E0E0E"/>
                </a:solidFill>
                <a:effectLst/>
                <a:latin typeface=".AppleSystemUIFont"/>
              </a:rPr>
              <a:t>수치화하거나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 지속적으로 모니터링할 체계가 부족함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3. </a:t>
            </a:r>
            <a:r>
              <a:rPr lang="ko-KR" altLang="en-US" b="1" dirty="0" err="1">
                <a:solidFill>
                  <a:srgbClr val="0E0E0E"/>
                </a:solidFill>
                <a:effectLst/>
                <a:latin typeface=".AppleSystemUIFont"/>
              </a:rPr>
              <a:t>키우미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: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부모의 주관적 판단에 의존하며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발달 상태를 실시간으로 모니터링할 기능이 없음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4. </a:t>
            </a:r>
            <a:r>
              <a:rPr lang="ko-KR" altLang="en-US" b="1" dirty="0" err="1">
                <a:solidFill>
                  <a:srgbClr val="0E0E0E"/>
                </a:solidFill>
                <a:effectLst/>
                <a:latin typeface=".AppleSystemUIFont"/>
              </a:rPr>
              <a:t>사이이음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: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발달 상태 추적이 부모의 주관적 판단에 의존하고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실시간 모니터링 기능이 부재함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7241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6179E-EE6A-760B-6F11-37FB4B389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4ECC5F-F9BD-1A81-DDD7-6DC8F7847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Function – </a:t>
            </a:r>
            <a:r>
              <a:rPr kumimoji="1" lang="ko-KR" altLang="en-US" dirty="0"/>
              <a:t>핵심 기능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EEEEBC-08F5-F04E-E001-DA841BD11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900"/>
              </a:spcBef>
              <a:buNone/>
            </a:pP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1. 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정량적 데이터 기반 실시간 모니터링</a:t>
            </a:r>
            <a:endParaRPr lang="ko-KR" altLang="en-US" dirty="0">
              <a:solidFill>
                <a:srgbClr val="0E0E0E"/>
              </a:solidFill>
              <a:effectLst/>
              <a:latin typeface=".AppleSystemUIFont"/>
            </a:endParaRPr>
          </a:p>
          <a:p>
            <a:pPr marL="0" indent="0">
              <a:spcBef>
                <a:spcPts val="900"/>
              </a:spcBef>
              <a:buNone/>
            </a:pP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센서를 활용해 아동의 발달 데이터를 수집하고 실시간으로 상태를 모니터링하여 정확한 정보를 제공합니다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2. 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발달 데이터 분석 및 맞춤형 솔루션 제공</a:t>
            </a:r>
            <a:endParaRPr lang="ko-KR" altLang="en-US" dirty="0">
              <a:solidFill>
                <a:srgbClr val="0E0E0E"/>
              </a:solidFill>
              <a:effectLst/>
              <a:latin typeface=".AppleSystemUIFont"/>
            </a:endParaRPr>
          </a:p>
          <a:p>
            <a:pPr marL="0" indent="0">
              <a:spcBef>
                <a:spcPts val="900"/>
              </a:spcBef>
              <a:buNone/>
            </a:pP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수집된 데이터를 시각화하고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분석 결과에 따라 맞춤형 활동 및 솔루션을 제시합니다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3. </a:t>
            </a:r>
            <a:r>
              <a:rPr lang="ko-KR" altLang="en-US" b="1" dirty="0">
                <a:solidFill>
                  <a:srgbClr val="0E0E0E"/>
                </a:solidFill>
                <a:effectLst/>
                <a:latin typeface=".AppleSystemUIFont"/>
              </a:rPr>
              <a:t>이상행동 탐지 및 발달 장애 조기 감지</a:t>
            </a:r>
            <a:endParaRPr lang="ko-KR" altLang="en-US" dirty="0">
              <a:solidFill>
                <a:srgbClr val="0E0E0E"/>
              </a:solidFill>
              <a:effectLst/>
              <a:latin typeface=".AppleSystemUIFont"/>
            </a:endParaRPr>
          </a:p>
          <a:p>
            <a:pPr marL="0" indent="0">
              <a:spcBef>
                <a:spcPts val="900"/>
              </a:spcBef>
              <a:buNone/>
            </a:pP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•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실시간 데이터 기반으로 아동의 이상행동을 감지하고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ko-KR" altLang="en-US" dirty="0">
                <a:solidFill>
                  <a:srgbClr val="0E0E0E"/>
                </a:solidFill>
                <a:effectLst/>
                <a:latin typeface=".AppleSystemUIFont"/>
              </a:rPr>
              <a:t>발달장애 위험을 조기에 알림으로 제공하여 빠른 대처를 </a:t>
            </a:r>
            <a:r>
              <a:rPr lang="ko-KR" altLang="en-US" dirty="0" err="1">
                <a:solidFill>
                  <a:srgbClr val="0E0E0E"/>
                </a:solidFill>
                <a:effectLst/>
                <a:latin typeface=".AppleSystemUIFont"/>
              </a:rPr>
              <a:t>돕습니다</a:t>
            </a:r>
            <a:r>
              <a:rPr lang="en-US" altLang="ko-KR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161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E22F0-5DB4-077B-1604-64E54190C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2D00C-0750-8F4C-0D89-AF2FCBF46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Function – </a:t>
            </a:r>
            <a:r>
              <a:rPr kumimoji="1" lang="ko-KR" altLang="en-US" dirty="0"/>
              <a:t>부가 기능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DF003A-F1BA-720B-0200-08DB09430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538286"/>
            <a:ext cx="11049000" cy="6742113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kumimoji="1" lang="en-US" altLang="ko-KR" sz="5100" dirty="0"/>
              <a:t>1.</a:t>
            </a:r>
            <a:r>
              <a:rPr kumimoji="1" lang="ko-KR" altLang="en-US" sz="5100" dirty="0"/>
              <a:t> 다양한 놀이 활동 추천 </a:t>
            </a:r>
            <a:r>
              <a:rPr kumimoji="1" lang="en-US" altLang="ko-KR" sz="5100" dirty="0"/>
              <a:t>: </a:t>
            </a:r>
            <a:r>
              <a:rPr lang="ko-KR" altLang="en-US" sz="5100" dirty="0">
                <a:solidFill>
                  <a:srgbClr val="0E0E0E"/>
                </a:solidFill>
                <a:effectLst/>
                <a:latin typeface=".AppleSystemUIFont"/>
              </a:rPr>
              <a:t>아동 발달 상태에 맞춰 </a:t>
            </a:r>
            <a:r>
              <a:rPr lang="ko-KR" altLang="en-US" sz="5100" b="1" dirty="0">
                <a:solidFill>
                  <a:srgbClr val="0E0E0E"/>
                </a:solidFill>
                <a:effectLst/>
                <a:latin typeface=".AppleSystemUIFont"/>
              </a:rPr>
              <a:t>체계적인 놀이 활동</a:t>
            </a:r>
            <a:r>
              <a:rPr lang="ko-KR" altLang="en-US" sz="5100" dirty="0">
                <a:solidFill>
                  <a:srgbClr val="0E0E0E"/>
                </a:solidFill>
                <a:effectLst/>
                <a:latin typeface=".AppleSystemUIFont"/>
              </a:rPr>
              <a:t>을 추천하고</a:t>
            </a:r>
            <a:r>
              <a:rPr lang="en-US" altLang="ko-KR" sz="5100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ko-KR" altLang="en-US" sz="5100" dirty="0">
                <a:solidFill>
                  <a:srgbClr val="0E0E0E"/>
                </a:solidFill>
                <a:effectLst/>
                <a:latin typeface=".AppleSystemUIFont"/>
              </a:rPr>
              <a:t>부모가 집에서 실천할 수 있는 활동들을 제공해 아동의 인지</a:t>
            </a:r>
            <a:r>
              <a:rPr lang="en-US" altLang="ko-KR" sz="5100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ko-KR" altLang="en-US" sz="5100" dirty="0">
                <a:solidFill>
                  <a:srgbClr val="0E0E0E"/>
                </a:solidFill>
                <a:effectLst/>
                <a:latin typeface=".AppleSystemUIFont"/>
              </a:rPr>
              <a:t>사회성</a:t>
            </a:r>
            <a:r>
              <a:rPr lang="en-US" altLang="ko-KR" sz="5100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ko-KR" altLang="en-US" sz="5100" dirty="0">
                <a:solidFill>
                  <a:srgbClr val="0E0E0E"/>
                </a:solidFill>
                <a:effectLst/>
                <a:latin typeface=".AppleSystemUIFont"/>
              </a:rPr>
              <a:t>운동 발달을 촉진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ko-KR" sz="5100" dirty="0"/>
              <a:t>2. </a:t>
            </a:r>
            <a:r>
              <a:rPr kumimoji="1" lang="ko-KR" altLang="en-US" sz="5100" dirty="0"/>
              <a:t>다양한 전문가 연결 기능 </a:t>
            </a:r>
            <a:r>
              <a:rPr kumimoji="1" lang="en-US" altLang="ko-KR" sz="5100" dirty="0"/>
              <a:t>: </a:t>
            </a:r>
            <a:r>
              <a:rPr lang="ko-KR" altLang="en-US" sz="5100" b="1" dirty="0">
                <a:solidFill>
                  <a:srgbClr val="0E0E0E"/>
                </a:solidFill>
                <a:effectLst/>
                <a:latin typeface=".AppleSystemUIFont"/>
              </a:rPr>
              <a:t>전문가와의 </a:t>
            </a:r>
            <a:r>
              <a:rPr lang="en-US" altLang="ko-KR" sz="5100" b="1" dirty="0">
                <a:solidFill>
                  <a:srgbClr val="0E0E0E"/>
                </a:solidFill>
                <a:effectLst/>
                <a:latin typeface=".AppleSystemUIFont"/>
              </a:rPr>
              <a:t>1:1 </a:t>
            </a:r>
            <a:r>
              <a:rPr lang="ko-KR" altLang="en-US" sz="5100" b="1" dirty="0">
                <a:solidFill>
                  <a:srgbClr val="0E0E0E"/>
                </a:solidFill>
                <a:effectLst/>
                <a:latin typeface=".AppleSystemUIFont"/>
              </a:rPr>
              <a:t>상담</a:t>
            </a:r>
            <a:r>
              <a:rPr lang="ko-KR" altLang="en-US" sz="5100" dirty="0">
                <a:solidFill>
                  <a:srgbClr val="0E0E0E"/>
                </a:solidFill>
                <a:effectLst/>
                <a:latin typeface=".AppleSystemUIFont"/>
              </a:rPr>
              <a:t> 기능을 추가하여</a:t>
            </a:r>
            <a:r>
              <a:rPr lang="en-US" altLang="ko-KR" sz="5100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ko-KR" altLang="en-US" sz="5100" dirty="0">
                <a:solidFill>
                  <a:srgbClr val="0E0E0E"/>
                </a:solidFill>
                <a:effectLst/>
                <a:latin typeface=".AppleSystemUIFont"/>
              </a:rPr>
              <a:t>부모가 발달 문제나 육아 고민에 대해 쉽게 전문가와 소통하고 실시간으로 해결책을 찾을 수 있도록 함</a:t>
            </a:r>
            <a:r>
              <a:rPr lang="en-US" altLang="ko-KR" sz="5100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5100" dirty="0">
                <a:solidFill>
                  <a:srgbClr val="0E0E0E"/>
                </a:solidFill>
                <a:latin typeface=".AppleSystemUIFont"/>
              </a:rPr>
              <a:t>3. </a:t>
            </a:r>
            <a:r>
              <a:rPr lang="ko-KR" altLang="en-US" sz="5100" dirty="0">
                <a:solidFill>
                  <a:srgbClr val="0E0E0E"/>
                </a:solidFill>
                <a:latin typeface=".AppleSystemUIFont"/>
              </a:rPr>
              <a:t>부모 교육 콘텐츠 제공 </a:t>
            </a:r>
            <a:r>
              <a:rPr lang="en-US" altLang="ko-KR" sz="5100" dirty="0">
                <a:solidFill>
                  <a:srgbClr val="0E0E0E"/>
                </a:solidFill>
                <a:latin typeface=".AppleSystemUIFont"/>
              </a:rPr>
              <a:t>: </a:t>
            </a:r>
            <a:r>
              <a:rPr lang="ko-KR" altLang="en-US" sz="5100" b="1" dirty="0">
                <a:solidFill>
                  <a:srgbClr val="0E0E0E"/>
                </a:solidFill>
                <a:effectLst/>
                <a:latin typeface=".AppleSystemUIFont"/>
              </a:rPr>
              <a:t>육아 팁</a:t>
            </a:r>
            <a:r>
              <a:rPr lang="en-US" altLang="ko-KR" sz="5100" b="1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ko-KR" altLang="en-US" sz="5100" b="1" dirty="0">
                <a:solidFill>
                  <a:srgbClr val="0E0E0E"/>
                </a:solidFill>
                <a:effectLst/>
                <a:latin typeface=".AppleSystemUIFont"/>
              </a:rPr>
              <a:t>발달 관련 강의</a:t>
            </a:r>
            <a:r>
              <a:rPr lang="en-US" altLang="ko-KR" sz="5100" b="1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ko-KR" altLang="en-US" sz="5100" b="1" dirty="0">
                <a:solidFill>
                  <a:srgbClr val="0E0E0E"/>
                </a:solidFill>
                <a:effectLst/>
                <a:latin typeface=".AppleSystemUIFont"/>
              </a:rPr>
              <a:t>전문가 인터뷰</a:t>
            </a:r>
            <a:r>
              <a:rPr lang="ko-KR" altLang="en-US" sz="5100" dirty="0">
                <a:solidFill>
                  <a:srgbClr val="0E0E0E"/>
                </a:solidFill>
                <a:effectLst/>
                <a:latin typeface=".AppleSystemUIFont"/>
              </a:rPr>
              <a:t> 등 부모가 아동 발달에 대해 더 잘 이해하고 실천할 수 있도록 돕는 교육 콘텐츠를 제공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5100" dirty="0">
                <a:solidFill>
                  <a:srgbClr val="0E0E0E"/>
                </a:solidFill>
                <a:effectLst/>
                <a:latin typeface=".AppleSystemUIFont"/>
              </a:rPr>
              <a:t>4. </a:t>
            </a:r>
            <a:r>
              <a:rPr lang="ko-KR" altLang="en-US" sz="5100" dirty="0">
                <a:solidFill>
                  <a:srgbClr val="0E0E0E"/>
                </a:solidFill>
                <a:effectLst/>
                <a:latin typeface=".AppleSystemUIFont"/>
              </a:rPr>
              <a:t>발달 목표 설정 및 알림 </a:t>
            </a:r>
            <a:r>
              <a:rPr lang="en-US" altLang="ko-KR" sz="5100" dirty="0">
                <a:solidFill>
                  <a:srgbClr val="0E0E0E"/>
                </a:solidFill>
                <a:effectLst/>
                <a:latin typeface=".AppleSystemUIFont"/>
              </a:rPr>
              <a:t>: </a:t>
            </a:r>
            <a:r>
              <a:rPr lang="ko-KR" altLang="en-US" sz="5100" dirty="0">
                <a:solidFill>
                  <a:srgbClr val="0E0E0E"/>
                </a:solidFill>
                <a:effectLst/>
                <a:latin typeface=".AppleSystemUIFont"/>
              </a:rPr>
              <a:t>아동의 발달 단계에 맞춰 </a:t>
            </a:r>
            <a:r>
              <a:rPr lang="ko-KR" altLang="en-US" sz="5100" b="1" dirty="0">
                <a:solidFill>
                  <a:srgbClr val="0E0E0E"/>
                </a:solidFill>
                <a:effectLst/>
                <a:latin typeface=".AppleSystemUIFont"/>
              </a:rPr>
              <a:t>개인화된 목표 설정</a:t>
            </a:r>
            <a:r>
              <a:rPr lang="ko-KR" altLang="en-US" sz="5100" dirty="0">
                <a:solidFill>
                  <a:srgbClr val="0E0E0E"/>
                </a:solidFill>
                <a:effectLst/>
                <a:latin typeface=".AppleSystemUIFont"/>
              </a:rPr>
              <a:t>을 하고</a:t>
            </a:r>
            <a:r>
              <a:rPr lang="en-US" altLang="ko-KR" sz="5100" dirty="0">
                <a:solidFill>
                  <a:srgbClr val="0E0E0E"/>
                </a:solidFill>
                <a:effectLst/>
                <a:latin typeface=".AppleSystemUIFont"/>
              </a:rPr>
              <a:t>, </a:t>
            </a:r>
            <a:r>
              <a:rPr lang="ko-KR" altLang="en-US" sz="5100" dirty="0">
                <a:solidFill>
                  <a:srgbClr val="0E0E0E"/>
                </a:solidFill>
                <a:effectLst/>
                <a:latin typeface=".AppleSystemUIFont"/>
              </a:rPr>
              <a:t>이를 달성하기 위한 일일 또는 주간 알림을 통해 부모가 주기적으로 점검할 수 있도록 지원</a:t>
            </a:r>
            <a:r>
              <a:rPr lang="en-US" altLang="ko-KR" sz="5100" dirty="0">
                <a:solidFill>
                  <a:srgbClr val="0E0E0E"/>
                </a:solidFill>
                <a:effectLst/>
                <a:latin typeface=".AppleSystemUIFont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5100" dirty="0">
                <a:solidFill>
                  <a:srgbClr val="0E0E0E"/>
                </a:solidFill>
                <a:effectLst/>
                <a:latin typeface=".AppleSystemUIFont"/>
              </a:rPr>
              <a:t>5. AI </a:t>
            </a:r>
            <a:r>
              <a:rPr lang="ko-KR" altLang="en-US" sz="5100" dirty="0" err="1">
                <a:solidFill>
                  <a:srgbClr val="0E0E0E"/>
                </a:solidFill>
                <a:effectLst/>
                <a:latin typeface=".AppleSystemUIFont"/>
              </a:rPr>
              <a:t>챗봇</a:t>
            </a:r>
            <a:r>
              <a:rPr lang="ko-KR" altLang="en-US" sz="5100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en-US" altLang="ko-KR" sz="5100" dirty="0">
                <a:solidFill>
                  <a:srgbClr val="0E0E0E"/>
                </a:solidFill>
                <a:effectLst/>
                <a:latin typeface=".AppleSystemUIFont"/>
              </a:rPr>
              <a:t>: </a:t>
            </a:r>
            <a:r>
              <a:rPr lang="ko-KR" altLang="en-US" sz="5100" dirty="0" err="1">
                <a:solidFill>
                  <a:srgbClr val="0E0E0E"/>
                </a:solidFill>
                <a:latin typeface=".AppleSystemUIFont"/>
              </a:rPr>
              <a:t>챗봇이</a:t>
            </a:r>
            <a:r>
              <a:rPr lang="ko-KR" altLang="en-US" sz="5100" dirty="0">
                <a:solidFill>
                  <a:srgbClr val="0E0E0E"/>
                </a:solidFill>
                <a:latin typeface=".AppleSystemUIFont"/>
              </a:rPr>
              <a:t> 누적된 데이터 기반으로 부모님이 궁금한 질문을 데이터 분석을 기반으로 솔루션 제공 </a:t>
            </a:r>
            <a:endParaRPr lang="en-US" altLang="ko-KR" sz="5100" dirty="0">
              <a:solidFill>
                <a:srgbClr val="0E0E0E"/>
              </a:solidFill>
              <a:effectLst/>
              <a:latin typeface=".AppleSystemUIFont"/>
            </a:endParaRPr>
          </a:p>
          <a:p>
            <a:pPr marL="0" indent="0">
              <a:buNone/>
            </a:pPr>
            <a:endParaRPr lang="en-US" altLang="ko-KR" dirty="0">
              <a:solidFill>
                <a:srgbClr val="0E0E0E"/>
              </a:solidFill>
              <a:effectLst/>
              <a:latin typeface=".AppleSystemUIFont"/>
            </a:endParaRPr>
          </a:p>
          <a:p>
            <a:pPr marL="0" indent="0">
              <a:buNone/>
            </a:pPr>
            <a:r>
              <a:rPr kumimoji="1"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4751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44E18-CF0F-F08B-AA99-58EF7A30A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FFD57-77E8-1E3A-45C6-0AC6F5B07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시나리오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1745B3-0185-5E21-A3F0-14E5A61A7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kumimoji="1" lang="en-US" altLang="ko-KR" dirty="0"/>
              <a:t>1. </a:t>
            </a:r>
            <a:r>
              <a:rPr kumimoji="1" lang="ko-KR" altLang="en-US" dirty="0"/>
              <a:t>수집된 데이터를 통합적으로 분석하여 주기적으로 부모에게 </a:t>
            </a:r>
            <a:r>
              <a:rPr kumimoji="1" lang="ko-KR" altLang="en-US" dirty="0" err="1"/>
              <a:t>레포트</a:t>
            </a:r>
            <a:r>
              <a:rPr kumimoji="1" lang="ko-KR" altLang="en-US" dirty="0"/>
              <a:t> 제공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ko-KR" altLang="en-US" dirty="0"/>
              <a:t>월말</a:t>
            </a:r>
            <a:r>
              <a:rPr kumimoji="1" lang="en-US" altLang="ko-KR" dirty="0"/>
              <a:t>(</a:t>
            </a:r>
            <a:r>
              <a:rPr kumimoji="1" lang="ko-KR" altLang="en-US" dirty="0"/>
              <a:t>혹은 시작한 날을 기준으로 한달마다</a:t>
            </a:r>
            <a:r>
              <a:rPr kumimoji="1" lang="en-US" altLang="ko-KR" dirty="0"/>
              <a:t>)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부모에게 어플 알람이 옴</a:t>
            </a:r>
            <a:r>
              <a:rPr kumimoji="1" lang="en-US" altLang="ko-KR" dirty="0"/>
              <a:t>-&gt; </a:t>
            </a:r>
            <a:r>
              <a:rPr kumimoji="1" lang="ko-KR" altLang="en-US" dirty="0"/>
              <a:t>한달간 센서가 수집한 데이터를 기반으로 아이의 발달지수를 알려주는 레포트를 확인함</a:t>
            </a:r>
            <a:r>
              <a:rPr kumimoji="1" lang="en-US" altLang="ko-KR" dirty="0"/>
              <a:t>(</a:t>
            </a:r>
            <a:r>
              <a:rPr kumimoji="1" lang="ko-KR" altLang="en-US" dirty="0"/>
              <a:t>그래프</a:t>
            </a:r>
            <a:r>
              <a:rPr kumimoji="1" lang="en-US" altLang="ko-KR" dirty="0"/>
              <a:t>, </a:t>
            </a:r>
            <a:r>
              <a:rPr kumimoji="1" lang="ko-KR" altLang="en-US" dirty="0"/>
              <a:t>행동 빈도</a:t>
            </a:r>
            <a:r>
              <a:rPr kumimoji="1" lang="en-US" altLang="ko-KR" dirty="0"/>
              <a:t>, </a:t>
            </a:r>
            <a:r>
              <a:rPr kumimoji="1" lang="ko-KR" altLang="en-US" dirty="0"/>
              <a:t>강도 등</a:t>
            </a:r>
            <a:r>
              <a:rPr kumimoji="1" lang="en-US" altLang="ko-KR" dirty="0"/>
              <a:t>)-&gt; </a:t>
            </a:r>
            <a:r>
              <a:rPr kumimoji="1" lang="ko-KR" altLang="en-US" dirty="0"/>
              <a:t>발달 지수에 따른 발달장애 정도를 알려줌</a:t>
            </a:r>
            <a:r>
              <a:rPr kumimoji="1" lang="en-US" altLang="ko-KR" dirty="0"/>
              <a:t>-&gt; </a:t>
            </a:r>
            <a:r>
              <a:rPr kumimoji="1" lang="ko-KR" altLang="en-US" dirty="0" err="1"/>
              <a:t>그정도에</a:t>
            </a:r>
            <a:r>
              <a:rPr kumimoji="1" lang="ko-KR" altLang="en-US" dirty="0"/>
              <a:t> 맞춰서 부모가 할 수 있는 솔루션 제공</a:t>
            </a:r>
            <a:r>
              <a:rPr kumimoji="1" lang="en-US" altLang="ko-KR" dirty="0"/>
              <a:t>(</a:t>
            </a:r>
            <a:r>
              <a:rPr kumimoji="1" lang="ko-KR" altLang="en-US" dirty="0"/>
              <a:t>병원에서 약 처방 </a:t>
            </a:r>
            <a:r>
              <a:rPr kumimoji="1" lang="en" altLang="ko-KR" dirty="0"/>
              <a:t>or </a:t>
            </a:r>
            <a:r>
              <a:rPr kumimoji="1" lang="ko-KR" altLang="en-US" dirty="0"/>
              <a:t>교육 프로그램 권유</a:t>
            </a:r>
            <a:r>
              <a:rPr kumimoji="1" lang="en-US" altLang="ko-KR" dirty="0"/>
              <a:t>)-&gt; </a:t>
            </a:r>
            <a:r>
              <a:rPr kumimoji="1" lang="ko-KR" altLang="en-US" dirty="0"/>
              <a:t>그 솔루션을 이행하는 모습</a:t>
            </a:r>
            <a:r>
              <a:rPr kumimoji="1" lang="en-US" altLang="ko-KR" dirty="0"/>
              <a:t>-&gt; </a:t>
            </a:r>
            <a:r>
              <a:rPr kumimoji="1" lang="ko-KR" altLang="en-US" dirty="0"/>
              <a:t>그 솔루션으로 더 좋아진 모습</a:t>
            </a:r>
            <a:r>
              <a:rPr kumimoji="1" lang="en-US" altLang="ko-KR" dirty="0"/>
              <a:t>-&gt; </a:t>
            </a:r>
            <a:r>
              <a:rPr kumimoji="1" lang="ko-KR" altLang="en-US" dirty="0" err="1"/>
              <a:t>안신하는</a:t>
            </a:r>
            <a:r>
              <a:rPr kumimoji="1" lang="ko-KR" altLang="en-US" dirty="0"/>
              <a:t> 부모모습 </a:t>
            </a:r>
            <a:r>
              <a:rPr kumimoji="1" lang="en" altLang="ko-KR" dirty="0" err="1"/>
              <a:t>zoooooooom</a:t>
            </a:r>
            <a:endParaRPr kumimoji="1" lang="en" altLang="ko-KR" dirty="0"/>
          </a:p>
          <a:p>
            <a:pPr marL="0" indent="0">
              <a:lnSpc>
                <a:spcPct val="120000"/>
              </a:lnSpc>
              <a:buNone/>
            </a:pPr>
            <a:r>
              <a:rPr kumimoji="1" lang="en" altLang="ko-KR" dirty="0"/>
              <a:t>2. </a:t>
            </a:r>
            <a:r>
              <a:rPr kumimoji="1" lang="ko-KR" altLang="en-US" dirty="0"/>
              <a:t>눈에 띄는 이상행동을 보이는 아이에 대한 즉각적인 피드백 제공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ko-KR" altLang="en-US" dirty="0" err="1"/>
              <a:t>아이랑</a:t>
            </a:r>
            <a:r>
              <a:rPr kumimoji="1" lang="ko-KR" altLang="en-US" dirty="0"/>
              <a:t> 같이 거실에 있어</a:t>
            </a:r>
            <a:r>
              <a:rPr kumimoji="1" lang="en-US" altLang="ko-KR" dirty="0"/>
              <a:t>-&gt; </a:t>
            </a:r>
            <a:r>
              <a:rPr kumimoji="1" lang="ko-KR" altLang="en-US" dirty="0"/>
              <a:t>아이가 이상행동을 보임</a:t>
            </a:r>
            <a:r>
              <a:rPr kumimoji="1" lang="en-US" altLang="ko-KR" dirty="0"/>
              <a:t>-&gt; </a:t>
            </a:r>
            <a:r>
              <a:rPr kumimoji="1" lang="ko-KR" altLang="en-US" dirty="0"/>
              <a:t>부모가 당황하며 어플 확인</a:t>
            </a:r>
            <a:r>
              <a:rPr kumimoji="1" lang="en-US" altLang="ko-KR" dirty="0"/>
              <a:t>-&gt; </a:t>
            </a:r>
            <a:r>
              <a:rPr kumimoji="1" lang="ko-KR" altLang="en-US" dirty="0" err="1"/>
              <a:t>어플에서</a:t>
            </a:r>
            <a:r>
              <a:rPr kumimoji="1" lang="ko-KR" altLang="en-US" dirty="0"/>
              <a:t> 이 행동에 대한 데이터를 제공</a:t>
            </a:r>
            <a:r>
              <a:rPr kumimoji="1" lang="en-US" altLang="ko-KR" dirty="0"/>
              <a:t>-&gt; </a:t>
            </a:r>
            <a:r>
              <a:rPr kumimoji="1" lang="ko-KR" altLang="en-US" dirty="0"/>
              <a:t>즉각적인 피드백</a:t>
            </a:r>
            <a:r>
              <a:rPr kumimoji="1" lang="en-US" altLang="ko-KR" dirty="0"/>
              <a:t>-&gt; </a:t>
            </a:r>
            <a:r>
              <a:rPr kumimoji="1" lang="ko-KR" altLang="en-US" dirty="0"/>
              <a:t>부모가 이행하고 괜찮아진 아이의 모습 확대</a:t>
            </a:r>
          </a:p>
          <a:p>
            <a:pPr marL="514350" indent="-514350">
              <a:lnSpc>
                <a:spcPct val="120000"/>
              </a:lnSpc>
              <a:buAutoNum type="arabicPeriod"/>
            </a:pPr>
            <a:endParaRPr kumimoji="1" lang="en-US" altLang="ko-KR" dirty="0"/>
          </a:p>
          <a:p>
            <a:pPr marL="514350" indent="-514350">
              <a:lnSpc>
                <a:spcPct val="120000"/>
              </a:lnSpc>
              <a:buAutoNum type="arabicPeriod"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1916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505BF-6FC1-2AEF-91D5-D14066D02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8B1630-F75F-4323-F676-18894FD26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Conclision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 </a:t>
            </a:r>
            <a:r>
              <a:rPr kumimoji="1" lang="ko-KR" altLang="en-US" dirty="0"/>
              <a:t>기대 효과 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161B06-4242-DEF8-864A-220530C73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ko-KR" altLang="en-US" dirty="0"/>
              <a:t>기능성 </a:t>
            </a:r>
            <a:r>
              <a:rPr kumimoji="1" lang="en-US" altLang="ko-KR" dirty="0"/>
              <a:t>:</a:t>
            </a:r>
          </a:p>
          <a:p>
            <a:pPr marL="0" indent="0">
              <a:buNone/>
            </a:pPr>
            <a:r>
              <a:rPr kumimoji="1" lang="en-US" altLang="ko-KR" dirty="0"/>
              <a:t> - </a:t>
            </a:r>
            <a:r>
              <a:rPr kumimoji="1" lang="ko-KR" altLang="en-US" dirty="0"/>
              <a:t>조기 발견 및 조기치료</a:t>
            </a:r>
          </a:p>
          <a:p>
            <a:pPr marL="0" indent="0">
              <a:buNone/>
            </a:pPr>
            <a:r>
              <a:rPr kumimoji="1" lang="ko-KR" altLang="en-US" dirty="0"/>
              <a:t> </a:t>
            </a:r>
            <a:r>
              <a:rPr kumimoji="1" lang="en-US" altLang="ko-KR" dirty="0"/>
              <a:t>- </a:t>
            </a:r>
            <a:r>
              <a:rPr kumimoji="1" lang="ko-KR" altLang="en-US" dirty="0"/>
              <a:t>맞춤형 발달 자극 제공</a:t>
            </a:r>
          </a:p>
          <a:p>
            <a:pPr marL="0" indent="0">
              <a:buNone/>
            </a:pPr>
            <a:endParaRPr kumimoji="1" lang="ko-KR" altLang="en-US" dirty="0"/>
          </a:p>
          <a:p>
            <a:pPr marL="0" indent="0">
              <a:buNone/>
            </a:pPr>
            <a:r>
              <a:rPr kumimoji="1" lang="ko-KR" altLang="en-US" dirty="0"/>
              <a:t>편의성 </a:t>
            </a:r>
            <a:r>
              <a:rPr kumimoji="1" lang="en-US" altLang="ko-KR" dirty="0"/>
              <a:t>:</a:t>
            </a:r>
          </a:p>
          <a:p>
            <a:pPr marL="0" indent="0">
              <a:buNone/>
            </a:pPr>
            <a:r>
              <a:rPr kumimoji="1" lang="en-US" altLang="ko-KR" dirty="0"/>
              <a:t> - </a:t>
            </a:r>
            <a:r>
              <a:rPr kumimoji="1" lang="ko-KR" altLang="en-US" dirty="0"/>
              <a:t>부모의 양육 부담 경감</a:t>
            </a:r>
          </a:p>
          <a:p>
            <a:pPr marL="0" indent="0">
              <a:buNone/>
            </a:pPr>
            <a:r>
              <a:rPr kumimoji="1" lang="ko-KR" altLang="en-US" dirty="0"/>
              <a:t> </a:t>
            </a:r>
            <a:r>
              <a:rPr kumimoji="1" lang="en-US" altLang="ko-KR" dirty="0"/>
              <a:t>- </a:t>
            </a:r>
            <a:r>
              <a:rPr kumimoji="1" lang="ko-KR" altLang="en-US" dirty="0"/>
              <a:t>정신적 안정 제공</a:t>
            </a:r>
          </a:p>
          <a:p>
            <a:pPr marL="0" indent="0">
              <a:buNone/>
            </a:pPr>
            <a:endParaRPr kumimoji="1" lang="ko-KR" altLang="en-US" dirty="0"/>
          </a:p>
          <a:p>
            <a:pPr marL="0" indent="0">
              <a:buNone/>
            </a:pPr>
            <a:r>
              <a:rPr kumimoji="1" lang="ko-KR" altLang="en-US" dirty="0"/>
              <a:t>효율성 </a:t>
            </a:r>
            <a:r>
              <a:rPr kumimoji="1" lang="en-US" altLang="ko-KR" dirty="0"/>
              <a:t>:</a:t>
            </a:r>
          </a:p>
          <a:p>
            <a:pPr marL="0" indent="0">
              <a:buNone/>
            </a:pPr>
            <a:r>
              <a:rPr kumimoji="1" lang="en-US" altLang="ko-KR" dirty="0"/>
              <a:t> - </a:t>
            </a:r>
            <a:r>
              <a:rPr kumimoji="1" lang="ko-KR" altLang="en-US" dirty="0"/>
              <a:t>의료 리소스 최적화</a:t>
            </a:r>
          </a:p>
          <a:p>
            <a:pPr marL="0" indent="0">
              <a:buNone/>
            </a:pPr>
            <a:r>
              <a:rPr kumimoji="1" lang="ko-KR" altLang="en-US" dirty="0"/>
              <a:t> </a:t>
            </a:r>
            <a:r>
              <a:rPr kumimoji="1" lang="en-US" altLang="ko-KR" dirty="0"/>
              <a:t>- </a:t>
            </a:r>
            <a:r>
              <a:rPr kumimoji="1" lang="ko-KR" altLang="en-US" dirty="0"/>
              <a:t>진단의 신뢰도 향상</a:t>
            </a:r>
            <a:endParaRPr kumimoji="1" lang="en-US" altLang="ko-KR" dirty="0"/>
          </a:p>
          <a:p>
            <a:pPr marL="514350" indent="-514350">
              <a:buAutoNum type="arabicPeriod"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0131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E0F69-761E-C009-BEDF-10CDC12D7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A883E8-D9DC-BC5B-C387-9CFEDF710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err="1"/>
              <a:t>Conclision</a:t>
            </a:r>
            <a:r>
              <a:rPr kumimoji="1" lang="ko-KR" altLang="en-US" dirty="0"/>
              <a:t> </a:t>
            </a:r>
            <a:r>
              <a:rPr kumimoji="1" lang="en-US" altLang="ko-KR" dirty="0"/>
              <a:t>– </a:t>
            </a:r>
            <a:r>
              <a:rPr kumimoji="1" lang="ko-KR" altLang="en-US" dirty="0"/>
              <a:t>응용 가능성</a:t>
            </a:r>
            <a:r>
              <a:rPr kumimoji="1" lang="en-US" altLang="ko-KR" dirty="0"/>
              <a:t>, </a:t>
            </a:r>
            <a:r>
              <a:rPr kumimoji="1" lang="ko-KR" altLang="en-US" dirty="0"/>
              <a:t>확장 가능성  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E23D72-7C31-CBE2-597D-81BCCCB44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kumimoji="1" lang="en-US" altLang="ko-KR" dirty="0"/>
              <a:t>- </a:t>
            </a:r>
            <a:r>
              <a:rPr kumimoji="1" lang="ko-KR" altLang="en-US" dirty="0"/>
              <a:t>응용 가능성</a:t>
            </a:r>
          </a:p>
          <a:p>
            <a:pPr marL="0" indent="0">
              <a:buNone/>
            </a:pPr>
            <a:r>
              <a:rPr kumimoji="1" lang="ko-KR" altLang="en-US" dirty="0"/>
              <a:t>    </a:t>
            </a:r>
            <a:r>
              <a:rPr kumimoji="1" lang="en-US" altLang="ko-KR" dirty="0"/>
              <a:t>- </a:t>
            </a:r>
            <a:r>
              <a:rPr kumimoji="1" lang="ko-KR" altLang="en-US" dirty="0"/>
              <a:t>심리</a:t>
            </a:r>
            <a:r>
              <a:rPr kumimoji="1" lang="en-US" altLang="ko-KR" dirty="0"/>
              <a:t>/</a:t>
            </a:r>
            <a:r>
              <a:rPr kumimoji="1" lang="ko-KR" altLang="en-US" dirty="0"/>
              <a:t>정서 발달 추적</a:t>
            </a:r>
          </a:p>
          <a:p>
            <a:pPr marL="0" indent="0">
              <a:buNone/>
            </a:pPr>
            <a:r>
              <a:rPr kumimoji="1" lang="ko-KR" altLang="en-US" dirty="0"/>
              <a:t>    </a:t>
            </a:r>
            <a:r>
              <a:rPr kumimoji="1" lang="en-US" altLang="ko-KR" dirty="0"/>
              <a:t>- </a:t>
            </a:r>
            <a:r>
              <a:rPr kumimoji="1" lang="ko-KR" altLang="en-US" dirty="0"/>
              <a:t>유치원 및 학교와 연계 </a:t>
            </a:r>
            <a:r>
              <a:rPr kumimoji="1" lang="en-US" altLang="ko-KR" dirty="0"/>
              <a:t>(</a:t>
            </a:r>
            <a:r>
              <a:rPr kumimoji="1" lang="ko-KR" altLang="en-US" dirty="0"/>
              <a:t>교육 기관과 연계</a:t>
            </a:r>
            <a:r>
              <a:rPr kumimoji="1" lang="en-US" altLang="ko-KR" dirty="0"/>
              <a:t>)</a:t>
            </a:r>
          </a:p>
          <a:p>
            <a:pPr marL="0" indent="0">
              <a:buNone/>
            </a:pPr>
            <a:r>
              <a:rPr kumimoji="1" lang="en-US" altLang="ko-KR" dirty="0"/>
              <a:t>    - </a:t>
            </a:r>
            <a:r>
              <a:rPr kumimoji="1" lang="ko-KR" altLang="en-US" dirty="0"/>
              <a:t>스마트 홈 및 </a:t>
            </a:r>
            <a:r>
              <a:rPr kumimoji="1" lang="en" altLang="ko-KR" dirty="0"/>
              <a:t>IoT </a:t>
            </a:r>
            <a:r>
              <a:rPr kumimoji="1" lang="ko-KR" altLang="en-US" dirty="0"/>
              <a:t>연동</a:t>
            </a:r>
          </a:p>
          <a:p>
            <a:pPr marL="0" indent="0">
              <a:buNone/>
            </a:pPr>
            <a:endParaRPr kumimoji="1" lang="ko-KR" altLang="en-US" dirty="0"/>
          </a:p>
          <a:p>
            <a:pPr marL="0" indent="0">
              <a:buNone/>
            </a:pPr>
            <a:r>
              <a:rPr kumimoji="1" lang="en-US" altLang="ko-KR" dirty="0"/>
              <a:t>- </a:t>
            </a:r>
            <a:r>
              <a:rPr kumimoji="1" lang="ko-KR" altLang="en-US" dirty="0"/>
              <a:t>확장 가능성</a:t>
            </a:r>
          </a:p>
          <a:p>
            <a:pPr marL="0" indent="0">
              <a:buNone/>
            </a:pPr>
            <a:r>
              <a:rPr kumimoji="1" lang="ko-KR" altLang="en-US" dirty="0"/>
              <a:t>    </a:t>
            </a:r>
            <a:r>
              <a:rPr kumimoji="1" lang="en-US" altLang="ko-KR" dirty="0"/>
              <a:t>- </a:t>
            </a:r>
            <a:r>
              <a:rPr kumimoji="1" lang="ko-KR" altLang="en-US" dirty="0"/>
              <a:t>환경 데이터와 결합 </a:t>
            </a:r>
            <a:r>
              <a:rPr kumimoji="1" lang="en-US" altLang="ko-KR" dirty="0"/>
              <a:t>: </a:t>
            </a:r>
            <a:r>
              <a:rPr kumimoji="1" lang="ko-KR" altLang="en-US" dirty="0"/>
              <a:t>실내외 활동 데이터를 날씨</a:t>
            </a:r>
            <a:r>
              <a:rPr kumimoji="1" lang="en-US" altLang="ko-KR" dirty="0"/>
              <a:t>, </a:t>
            </a:r>
            <a:r>
              <a:rPr kumimoji="1" lang="ko-KR" altLang="en-US" dirty="0"/>
              <a:t>미세먼지 등 환경 데이터와 결합하여 최적의 놀이 환경 추천</a:t>
            </a:r>
          </a:p>
          <a:p>
            <a:pPr marL="0" indent="0">
              <a:buNone/>
            </a:pPr>
            <a:r>
              <a:rPr kumimoji="1" lang="ko-KR" altLang="en-US" dirty="0"/>
              <a:t>    </a:t>
            </a:r>
            <a:r>
              <a:rPr kumimoji="1" lang="en-US" altLang="ko-KR" dirty="0"/>
              <a:t>- </a:t>
            </a:r>
            <a:r>
              <a:rPr kumimoji="1" lang="ko-KR" altLang="en-US" dirty="0"/>
              <a:t>식습관 데이터와 연계 </a:t>
            </a:r>
            <a:r>
              <a:rPr kumimoji="1" lang="en-US" altLang="ko-KR" dirty="0"/>
              <a:t>: </a:t>
            </a:r>
            <a:r>
              <a:rPr kumimoji="1" lang="ko-KR" altLang="en-US" dirty="0"/>
              <a:t>활동량 데이터를 식습관과 결합하여 영양 및 칼로리 소모량 관리</a:t>
            </a:r>
            <a:endParaRPr kumimoji="1" lang="en-US" altLang="ko-KR" dirty="0"/>
          </a:p>
          <a:p>
            <a:pPr marL="514350" indent="-514350">
              <a:buAutoNum type="arabicPeriod"/>
            </a:pP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8311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45DB8F-5AE7-1953-4530-FA26B6EA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5400" y="2766218"/>
            <a:ext cx="6121400" cy="1325563"/>
          </a:xfrm>
        </p:spPr>
        <p:txBody>
          <a:bodyPr>
            <a:normAutofit/>
          </a:bodyPr>
          <a:lstStyle/>
          <a:p>
            <a:r>
              <a:rPr kumimoji="1" lang="ko-KR" altLang="en-US" sz="6600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260464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8EFA8-D2E5-7DA8-69A8-44618B554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참고 문헌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01B794-40B2-6E73-81DE-3F8CEC1E9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29718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817</Words>
  <Application>Microsoft Macintosh PowerPoint</Application>
  <PresentationFormat>와이드스크린</PresentationFormat>
  <Paragraphs>81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.AppleSystemUIFont</vt:lpstr>
      <vt:lpstr>맑은 고딕</vt:lpstr>
      <vt:lpstr>Arial</vt:lpstr>
      <vt:lpstr>Office 테마</vt:lpstr>
      <vt:lpstr>SmartGrowth</vt:lpstr>
      <vt:lpstr>목차</vt:lpstr>
      <vt:lpstr>서비스 개요</vt:lpstr>
      <vt:lpstr>서비스 기획배경 </vt:lpstr>
      <vt:lpstr>Desk research – 영유아건강검진의 한계</vt:lpstr>
      <vt:lpstr>Desk research – 경쟁 서비스 분석 </vt:lpstr>
      <vt:lpstr>Desk research – 경쟁 서비스 분석 </vt:lpstr>
      <vt:lpstr>Desk research – 요약 및 정리</vt:lpstr>
      <vt:lpstr>Function – 핵심 기능 </vt:lpstr>
      <vt:lpstr>Function – 부가 기능 </vt:lpstr>
      <vt:lpstr>시나리오 </vt:lpstr>
      <vt:lpstr>Conclision – 기대 효과  </vt:lpstr>
      <vt:lpstr>Conclision – 응용 가능성, 확장 가능성   </vt:lpstr>
      <vt:lpstr>감사합니다</vt:lpstr>
      <vt:lpstr>참고 문헌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유세리</dc:creator>
  <cp:lastModifiedBy>유세리</cp:lastModifiedBy>
  <cp:revision>8</cp:revision>
  <dcterms:created xsi:type="dcterms:W3CDTF">2024-11-28T09:33:01Z</dcterms:created>
  <dcterms:modified xsi:type="dcterms:W3CDTF">2024-11-28T10:59:12Z</dcterms:modified>
</cp:coreProperties>
</file>